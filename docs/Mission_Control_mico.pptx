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4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5AD1E8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300" kern="0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CONTROL</a:t>
            </a:r>
            <a:endParaRPr lang="en-US" sz="4200" dirty="0"/>
          </a:p>
        </p:txBody>
      </p:sp>
      <p:pic>
        <p:nvPicPr>
          <p:cNvPr id="3" name="Image 0" descr="ring_g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1051560"/>
            <a:ext cx="2514600" cy="2514600"/>
          </a:xfrm>
          <a:prstGeom prst="rect">
            <a:avLst/>
          </a:prstGeom>
        </p:spPr>
      </p:pic>
      <p:pic>
        <p:nvPicPr>
          <p:cNvPr id="4" name="Image 1" descr="logo_cropp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915" y="1170432"/>
            <a:ext cx="1545122" cy="1965960"/>
          </a:xfrm>
          <a:prstGeom prst="rect">
            <a:avLst/>
          </a:prstGeom>
        </p:spPr>
      </p:pic>
      <p:pic>
        <p:nvPicPr>
          <p:cNvPr id="5" name="Image 2" descr="mission_pat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320040"/>
            <a:ext cx="960120" cy="96012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57200" y="3200400"/>
            <a:ext cx="11274552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2700" dir="5400000">
              <a:srgbClr val="000000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messing around? It's MiCo!</a:t>
            </a:r>
            <a:endParaRPr lang="en-US" sz="1900" dirty="0"/>
          </a:p>
        </p:txBody>
      </p:sp>
      <p:sp>
        <p:nvSpPr>
          <p:cNvPr id="7" name="Text 2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7B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always-current dashboard for engineering managers.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MISSION CONTROL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whole world, one dashboard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managers who juggle deadlines and never-ending threads.</a:t>
            </a:r>
            <a:endParaRPr lang="en-US" sz="1350" dirty="0"/>
          </a:p>
        </p:txBody>
      </p:sp>
      <p:pic>
        <p:nvPicPr>
          <p:cNvPr id="5" name="Image 0" descr="control_room_b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600200"/>
            <a:ext cx="12006072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3538728" cy="2651760"/>
          </a:xfrm>
          <a:prstGeom prst="roundRect">
            <a:avLst>
              <a:gd name="adj" fmla="val 3103"/>
            </a:avLst>
          </a:prstGeom>
          <a:solidFill>
            <a:srgbClr val="1B2530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2258568"/>
            <a:ext cx="548640" cy="548640"/>
          </a:xfrm>
          <a:prstGeom prst="ellipse">
            <a:avLst/>
          </a:prstGeom>
          <a:ln w="25400">
            <a:solidFill>
              <a:srgbClr val="5AD1E8"/>
            </a:solidFill>
            <a:prstDash val="solid"/>
          </a:ln>
        </p:spPr>
      </p:sp>
      <p:pic>
        <p:nvPicPr>
          <p:cNvPr id="8" name="Image 1" descr="icons/ra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368296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1248" y="301752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all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41248" y="352044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deliverable and track, one screen.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343400" y="1965960"/>
            <a:ext cx="3538728" cy="2651760"/>
          </a:xfrm>
          <a:prstGeom prst="roundRect">
            <a:avLst>
              <a:gd name="adj" fmla="val 3103"/>
            </a:avLst>
          </a:prstGeom>
          <a:solidFill>
            <a:srgbClr val="1B2530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36008" y="2258568"/>
            <a:ext cx="548640" cy="548640"/>
          </a:xfrm>
          <a:prstGeom prst="ellipse">
            <a:avLst/>
          </a:prstGeom>
          <a:ln w="25400">
            <a:solidFill>
              <a:srgbClr val="FFB347"/>
            </a:solidFill>
            <a:prstDash val="solid"/>
          </a:ln>
        </p:spPr>
      </p:sp>
      <p:pic>
        <p:nvPicPr>
          <p:cNvPr id="13" name="Image 2" descr="icons/orbit_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2368296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36008" y="301752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current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636008" y="352044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that's actually true, live.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38160" y="1965960"/>
            <a:ext cx="3538728" cy="2651760"/>
          </a:xfrm>
          <a:prstGeom prst="roundRect">
            <a:avLst>
              <a:gd name="adj" fmla="val 3103"/>
            </a:avLst>
          </a:prstGeom>
          <a:solidFill>
            <a:srgbClr val="1B2530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430768" y="2258568"/>
            <a:ext cx="548640" cy="548640"/>
          </a:xfrm>
          <a:prstGeom prst="ellipse">
            <a:avLst/>
          </a:prstGeom>
          <a:ln w="25400">
            <a:solidFill>
              <a:srgbClr val="5FD6A6"/>
            </a:solidFill>
            <a:prstDash val="solid"/>
          </a:ln>
        </p:spPr>
      </p:sp>
      <p:pic>
        <p:nvPicPr>
          <p:cNvPr id="18" name="Image 3" descr="icons/ge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2368296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430768" y="301752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Busywork, automated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430768" y="352044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updates run themselves.</a:t>
            </a:r>
            <a:endParaRPr lang="en-US" sz="1300" dirty="0"/>
          </a:p>
        </p:txBody>
      </p:sp>
      <p:pic>
        <p:nvPicPr>
          <p:cNvPr id="21" name="Image 4" descr="control_room_f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4116" y="4800600"/>
            <a:ext cx="5760720" cy="16130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CONTROL</a:t>
            </a:r>
            <a:endParaRPr lang="en-US" sz="950" dirty="0"/>
          </a:p>
        </p:txBody>
      </p:sp>
      <p:sp>
        <p:nvSpPr>
          <p:cNvPr id="23" name="Text 1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DUAL-TRACK MODEL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kinds of work, one model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track is one of two types — both boil down to one trusted brief.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1B2530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965960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1B2530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130552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TRACKS</a:t>
            </a:r>
            <a:endParaRPr lang="en-US" sz="1150" dirty="0"/>
          </a:p>
        </p:txBody>
      </p:sp>
      <p:pic>
        <p:nvPicPr>
          <p:cNvPr id="8" name="Image 0" descr="icons/rocket_asc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30552"/>
            <a:ext cx="548640" cy="5486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4672" y="25603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Discrete, deadline-driven work.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01752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Has a due date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Archived when done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refresh schedule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519672" y="2130552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A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TRACKS</a:t>
            </a:r>
            <a:endParaRPr lang="en-US" sz="1150" dirty="0"/>
          </a:p>
        </p:txBody>
      </p:sp>
      <p:pic>
        <p:nvPicPr>
          <p:cNvPr id="12" name="Image 1" descr="icons/rocket_orb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075688"/>
            <a:ext cx="731520" cy="7315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19672" y="25603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knowledge threads.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519672" y="301752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end date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Refreshed on schedule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Audited for staleness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89204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62029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4672" y="5056632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F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STATE BRIEF</a:t>
            </a:r>
            <a:endParaRPr lang="en-US" sz="1150" dirty="0"/>
          </a:p>
        </p:txBody>
      </p:sp>
      <p:pic>
        <p:nvPicPr>
          <p:cNvPr id="17" name="Image 2" descr="icons/docu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518464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657600" y="489204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condensed brief per track — rewritten each refresh, never appended to.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CONTROL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trigger to trusted record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is the worker agent — mico never touches your credentials.</a:t>
            </a:r>
            <a:endParaRPr lang="en-US" sz="1350" dirty="0"/>
          </a:p>
        </p:txBody>
      </p:sp>
      <p:pic>
        <p:nvPicPr>
          <p:cNvPr id="5" name="Image 0" descr="trajec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332720" cy="150601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16152" y="2450592"/>
            <a:ext cx="310896" cy="310896"/>
          </a:xfrm>
          <a:prstGeom prst="ellipse">
            <a:avLst/>
          </a:prstGeom>
          <a:solidFill>
            <a:srgbClr val="8FA0AF"/>
          </a:solidFill>
          <a:ln w="25400">
            <a:solidFill>
              <a:srgbClr val="0B0F14"/>
            </a:solidFill>
            <a:prstDash val="solid"/>
          </a:ln>
        </p:spPr>
      </p:sp>
      <p:pic>
        <p:nvPicPr>
          <p:cNvPr id="7" name="Image 1" descr="icons/butt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549" y="2518989"/>
            <a:ext cx="174102" cy="1741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82880" y="1645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182880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starts on a track</a:t>
            </a:r>
            <a:endParaRPr lang="en-US" sz="1050" dirty="0"/>
          </a:p>
        </p:txBody>
      </p:sp>
      <p:pic>
        <p:nvPicPr>
          <p:cNvPr id="10" name="Image 2" descr="icons/astronau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2240280"/>
            <a:ext cx="274320" cy="2743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355562" y="2130552"/>
            <a:ext cx="310896" cy="310896"/>
          </a:xfrm>
          <a:prstGeom prst="ellipse">
            <a:avLst/>
          </a:prstGeom>
          <a:solidFill>
            <a:srgbClr val="FF2E92"/>
          </a:solidFill>
          <a:ln w="25400">
            <a:solidFill>
              <a:srgbClr val="0B0F14"/>
            </a:solidFill>
            <a:prstDash val="solid"/>
          </a:ln>
        </p:spPr>
      </p:sp>
      <p:pic>
        <p:nvPicPr>
          <p:cNvPr id="12" name="Image 3" descr="icons/penc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3959" y="2198949"/>
            <a:ext cx="174102" cy="17410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322290" y="2468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proposes</a:t>
            </a:r>
            <a:endParaRPr lang="en-US" sz="1350" dirty="0"/>
          </a:p>
        </p:txBody>
      </p:sp>
      <p:sp>
        <p:nvSpPr>
          <p:cNvPr id="14" name="Text 8"/>
          <p:cNvSpPr txBox="1"/>
          <p:nvPr/>
        </p:nvSpPr>
        <p:spPr>
          <a:xfrm>
            <a:off x="3322290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written to a sidecar file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7495062" y="2724912"/>
            <a:ext cx="310896" cy="310896"/>
          </a:xfrm>
          <a:prstGeom prst="ellipse">
            <a:avLst/>
          </a:prstGeom>
          <a:solidFill>
            <a:srgbClr val="5AD1E8"/>
          </a:solidFill>
          <a:ln w="25400">
            <a:solidFill>
              <a:srgbClr val="0B0F14"/>
            </a:solidFill>
            <a:prstDash val="solid"/>
          </a:ln>
        </p:spPr>
      </p:sp>
      <p:pic>
        <p:nvPicPr>
          <p:cNvPr id="16" name="Image 4" descr="icons/shield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3460" y="2793309"/>
            <a:ext cx="174102" cy="17410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461790" y="2103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checks</a:t>
            </a:r>
            <a:endParaRPr lang="en-US" sz="1350" dirty="0"/>
          </a:p>
        </p:txBody>
      </p:sp>
      <p:sp>
        <p:nvSpPr>
          <p:cNvPr id="18" name="Text 11"/>
          <p:cNvSpPr txBox="1"/>
          <p:nvPr/>
        </p:nvSpPr>
        <p:spPr>
          <a:xfrm>
            <a:off x="646179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Structure, then optional grounding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10634472" y="2221992"/>
            <a:ext cx="310896" cy="310896"/>
          </a:xfrm>
          <a:prstGeom prst="ellipse">
            <a:avLst/>
          </a:prstGeom>
          <a:solidFill>
            <a:srgbClr val="5FD6A6"/>
          </a:solidFill>
          <a:ln w="25400">
            <a:solidFill>
              <a:srgbClr val="0B0F14"/>
            </a:solidFill>
            <a:prstDash val="solid"/>
          </a:ln>
        </p:spPr>
      </p:sp>
      <p:pic>
        <p:nvPicPr>
          <p:cNvPr id="20" name="Image 5" descr="icons/checkx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2869" y="2290389"/>
            <a:ext cx="174102" cy="174102"/>
          </a:xfrm>
          <a:prstGeom prst="rect">
            <a:avLst/>
          </a:prstGeom>
        </p:spPr>
      </p:pic>
      <p:pic>
        <p:nvPicPr>
          <p:cNvPr id="21" name="Image 6" descr="icons/astronau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2760" y="2459736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601200" y="27797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or reject</a:t>
            </a:r>
            <a:endParaRPr lang="en-US" sz="1350" dirty="0"/>
          </a:p>
        </p:txBody>
      </p:sp>
      <p:sp>
        <p:nvSpPr>
          <p:cNvPr id="23" name="Text 14"/>
          <p:cNvSpPr txBox="1"/>
          <p:nvPr/>
        </p:nvSpPr>
        <p:spPr>
          <a:xfrm>
            <a:off x="9601200" y="30723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revision, or sent back</a:t>
            </a:r>
            <a:endParaRPr lang="en-US" sz="1050" dirty="0"/>
          </a:p>
        </p:txBody>
      </p:sp>
      <p:sp>
        <p:nvSpPr>
          <p:cNvPr id="24" name="Shape 15"/>
          <p:cNvSpPr/>
          <p:nvPr/>
        </p:nvSpPr>
        <p:spPr>
          <a:xfrm>
            <a:off x="548640" y="4160520"/>
            <a:ext cx="10972800" cy="1417320"/>
          </a:xfrm>
          <a:prstGeom prst="roundRect">
            <a:avLst>
              <a:gd name="adj" fmla="val 5806"/>
            </a:avLst>
          </a:prstGeom>
          <a:solidFill>
            <a:srgbClr val="162029"/>
          </a:solidFill>
          <a:ln w="12700">
            <a:solidFill>
              <a:srgbClr val="2E3B47"/>
            </a:solidFill>
            <a:prstDash val="solid"/>
          </a:ln>
        </p:spPr>
      </p:sp>
      <p:pic>
        <p:nvPicPr>
          <p:cNvPr id="25" name="Image 7" descr="icons/rad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5560" y="4544568"/>
            <a:ext cx="640080" cy="64008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804672" y="4325112"/>
            <a:ext cx="9912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A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VERIFICATION</a:t>
            </a:r>
            <a:endParaRPr lang="en-US" sz="1150" dirty="0"/>
          </a:p>
        </p:txBody>
      </p:sp>
      <p:sp>
        <p:nvSpPr>
          <p:cNvPr id="27" name="Text 17"/>
          <p:cNvSpPr txBox="1"/>
          <p:nvPr/>
        </p:nvSpPr>
        <p:spPr>
          <a:xfrm>
            <a:off x="804672" y="4727448"/>
            <a:ext cx="9235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Verifier sees only the evidence and the two briefs — never the agent's reasoning.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separation is what keeps validation honest.</a:t>
            </a:r>
            <a:endParaRPr lang="en-US" sz="1300" dirty="0"/>
          </a:p>
        </p:txBody>
      </p:sp>
      <p:sp>
        <p:nvSpPr>
          <p:cNvPr id="28" name="Text 18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CONTROL</a:t>
            </a:r>
            <a:endParaRPr lang="en-US" sz="950" dirty="0"/>
          </a:p>
        </p:txBody>
      </p:sp>
      <p:sp>
        <p:nvSpPr>
          <p:cNvPr id="29" name="Text 1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we committed to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calls that shape every other decision.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1B2530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ln w="25400">
            <a:solidFill>
              <a:srgbClr val="5AD1E8"/>
            </a:solidFill>
            <a:prstDash val="solid"/>
          </a:ln>
        </p:spPr>
      </p:sp>
      <p:pic>
        <p:nvPicPr>
          <p:cNvPr id="7" name="Image 0" descr="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340864"/>
            <a:ext cx="301752" cy="3017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22199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Credential-light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926080"/>
            <a:ext cx="4672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holds your keys, not us.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96596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1B2530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240280"/>
            <a:ext cx="502920" cy="502920"/>
          </a:xfrm>
          <a:prstGeom prst="ellipse">
            <a:avLst/>
          </a:prstGeom>
          <a:ln w="25400">
            <a:solidFill>
              <a:srgbClr val="FFB347"/>
            </a:solidFill>
            <a:prstDash val="solid"/>
          </a:ln>
        </p:spPr>
      </p:sp>
      <p:pic>
        <p:nvPicPr>
          <p:cNvPr id="12" name="Image 1" descr="icons/shield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234086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23760" y="222199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Trust, but verify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6556248" y="2926080"/>
            <a:ext cx="4672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proposal is checked before it counts.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224528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1B2530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4498848"/>
            <a:ext cx="502920" cy="502920"/>
          </a:xfrm>
          <a:prstGeom prst="ellipse">
            <a:avLst/>
          </a:prstGeom>
          <a:ln w="25400">
            <a:solidFill>
              <a:srgbClr val="5FD6A6"/>
            </a:solidFill>
            <a:prstDash val="solid"/>
          </a:ln>
        </p:spPr>
      </p:sp>
      <p:pic>
        <p:nvPicPr>
          <p:cNvPr id="17" name="Image 2" descr="icons/astronau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599432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8760" y="44805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841248" y="5184648"/>
            <a:ext cx="4672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is opt-in, per track.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63640" y="4224528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1B2530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37960" y="4498848"/>
            <a:ext cx="502920" cy="502920"/>
          </a:xfrm>
          <a:prstGeom prst="ellipse">
            <a:avLst/>
          </a:prstGeom>
          <a:ln w="25400">
            <a:solidFill>
              <a:srgbClr val="FF2E92"/>
            </a:solidFill>
            <a:prstDash val="solid"/>
          </a:ln>
        </p:spPr>
      </p:sp>
      <p:pic>
        <p:nvPicPr>
          <p:cNvPr id="22" name="Image 3" descr="icons/puzz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4599432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23760" y="44805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dependencies</a:t>
            </a:r>
            <a:endParaRPr lang="en-US" sz="1550" dirty="0"/>
          </a:p>
        </p:txBody>
      </p:sp>
      <p:sp>
        <p:nvSpPr>
          <p:cNvPr id="24" name="Text 18"/>
          <p:cNvSpPr txBox="1"/>
          <p:nvPr/>
        </p:nvSpPr>
        <p:spPr>
          <a:xfrm>
            <a:off x="6556248" y="5184648"/>
            <a:ext cx="4672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boring, easy to trust.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CONTROL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milestones, each a working slice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691640" y="3246120"/>
            <a:ext cx="8778240" cy="0"/>
          </a:xfrm>
          <a:prstGeom prst="line">
            <a:avLst/>
          </a:prstGeom>
          <a:noFill/>
          <a:ln w="19050">
            <a:solidFill>
              <a:srgbClr val="2E3B47"/>
            </a:solidFill>
            <a:prstDash val="sysDot"/>
          </a:ln>
        </p:spPr>
      </p:sp>
      <p:pic>
        <p:nvPicPr>
          <p:cNvPr id="5" name="Image 0" descr="icons/planet_m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3017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35295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286000" cy="960120"/>
          </a:xfrm>
          <a:prstGeom prst="roundRect">
            <a:avLst>
              <a:gd name="adj" fmla="val 8571"/>
            </a:avLst>
          </a:prstGeom>
          <a:solidFill>
            <a:srgbClr val="1B2530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Storage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3042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ABCs, storage, locking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691640" y="2788920"/>
            <a:ext cx="0" cy="228600"/>
          </a:xfrm>
          <a:prstGeom prst="line">
            <a:avLst/>
          </a:prstGeom>
          <a:noFill/>
          <a:ln w="15875">
            <a:solidFill>
              <a:srgbClr val="FF2E92"/>
            </a:solidFill>
            <a:prstDash val="dash"/>
          </a:ln>
        </p:spPr>
      </p:sp>
      <p:pic>
        <p:nvPicPr>
          <p:cNvPr id="11" name="Image 1" descr="icons/planet_m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2962656"/>
            <a:ext cx="566928" cy="56692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51960" y="26883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474720" y="3703320"/>
            <a:ext cx="2286000" cy="960120"/>
          </a:xfrm>
          <a:prstGeom prst="roundRect">
            <a:avLst>
              <a:gd name="adj" fmla="val 8571"/>
            </a:avLst>
          </a:prstGeom>
          <a:solidFill>
            <a:srgbClr val="1B2530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611880" y="3813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Integration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4178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sidecar, validation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17720" y="3529584"/>
            <a:ext cx="0" cy="173736"/>
          </a:xfrm>
          <a:prstGeom prst="line">
            <a:avLst/>
          </a:prstGeom>
          <a:noFill/>
          <a:ln w="15875">
            <a:solidFill>
              <a:srgbClr val="FFB347"/>
            </a:solidFill>
            <a:prstDash val="dash"/>
          </a:ln>
        </p:spPr>
      </p:sp>
      <p:pic>
        <p:nvPicPr>
          <p:cNvPr id="17" name="Image 2" descr="icons/planet_m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2990088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78040" y="35570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A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0" y="1828800"/>
            <a:ext cx="2286000" cy="960120"/>
          </a:xfrm>
          <a:prstGeom prst="roundRect">
            <a:avLst>
              <a:gd name="adj" fmla="val 8571"/>
            </a:avLst>
          </a:prstGeom>
          <a:solidFill>
            <a:srgbClr val="1B2530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537960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&amp; Audit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537960" y="23042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Scheduler, health, audit trail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543800" y="2788920"/>
            <a:ext cx="0" cy="201168"/>
          </a:xfrm>
          <a:prstGeom prst="line">
            <a:avLst/>
          </a:prstGeom>
          <a:noFill/>
          <a:ln w="15875">
            <a:solidFill>
              <a:srgbClr val="5AD1E8"/>
            </a:solidFill>
            <a:prstDash val="dash"/>
          </a:ln>
        </p:spPr>
      </p:sp>
      <p:pic>
        <p:nvPicPr>
          <p:cNvPr id="23" name="Image 3" descr="icons/planet_m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2926080"/>
            <a:ext cx="640080" cy="6400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104120" y="265176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F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9326880" y="3703320"/>
            <a:ext cx="2286000" cy="960120"/>
          </a:xfrm>
          <a:prstGeom prst="roundRect">
            <a:avLst>
              <a:gd name="adj" fmla="val 8571"/>
            </a:avLst>
          </a:prstGeom>
          <a:solidFill>
            <a:srgbClr val="1B2530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9464040" y="3813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9464040" y="4178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dashboard, live chat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10469880" y="3566160"/>
            <a:ext cx="0" cy="137160"/>
          </a:xfrm>
          <a:prstGeom prst="line">
            <a:avLst/>
          </a:prstGeom>
          <a:noFill/>
          <a:ln w="15875">
            <a:solidFill>
              <a:srgbClr val="5FD6A6"/>
            </a:solidFill>
            <a:prstDash val="dash"/>
          </a:ln>
        </p:spPr>
      </p:sp>
      <p:pic>
        <p:nvPicPr>
          <p:cNvPr id="29" name="Image 4" descr="icons/rocket_fly_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4663440"/>
            <a:ext cx="822960" cy="8229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CONTROL</a:t>
            </a:r>
            <a:endParaRPr lang="en-US" sz="950" dirty="0"/>
          </a:p>
        </p:txBody>
      </p:sp>
      <p:sp>
        <p:nvSpPr>
          <p:cNvPr id="31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INTERACT WITH MICO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two surfaces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interfaces on top. Two speeds of operation underneath.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57800" cy="777240"/>
          </a:xfrm>
          <a:prstGeom prst="roundRect">
            <a:avLst>
              <a:gd name="adj" fmla="val 10588"/>
            </a:avLst>
          </a:prstGeom>
          <a:solidFill>
            <a:srgbClr val="1B2530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874520"/>
            <a:ext cx="5257800" cy="777240"/>
          </a:xfrm>
          <a:prstGeom prst="roundRect">
            <a:avLst>
              <a:gd name="adj" fmla="val 10588"/>
            </a:avLst>
          </a:prstGeom>
          <a:solidFill>
            <a:srgbClr val="1B2530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39112"/>
            <a:ext cx="457200" cy="457200"/>
          </a:xfrm>
          <a:prstGeom prst="ellipse">
            <a:avLst/>
          </a:prstGeom>
          <a:ln w="25400">
            <a:solidFill>
              <a:srgbClr val="5AD1E8"/>
            </a:solidFill>
            <a:prstDash val="solid"/>
          </a:ln>
        </p:spPr>
      </p:sp>
      <p:pic>
        <p:nvPicPr>
          <p:cNvPr id="8" name="Image 0" descr="icons/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21408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8745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 </a:t>
            </a:r>
            <a:pPr indent="0" marL="0">
              <a:buNone/>
            </a:pPr>
            <a:r>
              <a:rPr lang="en-US" sz="1250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Scripts, automation, headless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92240" y="2039112"/>
            <a:ext cx="457200" cy="457200"/>
          </a:xfrm>
          <a:prstGeom prst="ellipse">
            <a:avLst/>
          </a:prstGeom>
          <a:ln w="25400">
            <a:solidFill>
              <a:srgbClr val="FFB347"/>
            </a:solidFill>
            <a:prstDash val="solid"/>
          </a:ln>
        </p:spPr>
      </p:sp>
      <p:pic>
        <p:nvPicPr>
          <p:cNvPr id="11" name="Image 1" descr="icons/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21214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874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 </a:t>
            </a:r>
            <a:pPr indent="0" marL="0">
              <a:buNone/>
            </a:pPr>
            <a:r>
              <a:rPr lang="en-US" sz="1250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dual-pane view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292608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1B2530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3090672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FD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— INSTANT</a:t>
            </a:r>
            <a:endParaRPr lang="en-US" sz="1150" dirty="0"/>
          </a:p>
        </p:txBody>
      </p:sp>
      <p:pic>
        <p:nvPicPr>
          <p:cNvPr id="15" name="Image 2" descr="icons/light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12724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04672" y="349300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recap, delta, evidence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agent. Under 500ms.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263640" y="292608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1B2530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519672" y="3090672"/>
            <a:ext cx="4745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2E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AGENT-INVOKING — VALIDATED</a:t>
            </a:r>
            <a:endParaRPr lang="en-US" sz="1150" dirty="0"/>
          </a:p>
        </p:txBody>
      </p:sp>
      <p:pic>
        <p:nvPicPr>
          <p:cNvPr id="19" name="Image 3" descr="icons/di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310896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519672" y="349300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refresh, chat, ask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F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Spawns Claude Code, then validated.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457200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162029"/>
          </a:solidFill>
          <a:ln w="12700">
            <a:solidFill>
              <a:srgbClr val="2E3B47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04672" y="4736592"/>
            <a:ext cx="9912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AD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“CONTINUOUS” CHAT IS STATELESS</a:t>
            </a:r>
            <a:endParaRPr lang="en-US" sz="1150" dirty="0"/>
          </a:p>
        </p:txBody>
      </p:sp>
      <p:pic>
        <p:nvPicPr>
          <p:cNvPr id="23" name="Image 4" descr="icons/radiowa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1320" y="4791456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04672" y="502920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turn is a fresh, resumed session — never a live process. Validation still applies.</a:t>
            </a:r>
            <a:endParaRPr lang="en-US" sz="1250" dirty="0"/>
          </a:p>
        </p:txBody>
      </p:sp>
      <p:pic>
        <p:nvPicPr>
          <p:cNvPr id="25" name="Image 5" descr="icons/hand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4356" y="5458968"/>
            <a:ext cx="1920240" cy="8961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CONTROL</a:t>
            </a:r>
            <a:endParaRPr lang="en-US" sz="950" dirty="0"/>
          </a:p>
        </p:txBody>
      </p:sp>
      <p:sp>
        <p:nvSpPr>
          <p:cNvPr id="27" name="Text 1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556" y="50292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468880"/>
            <a:ext cx="11274552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16200000">
              <a:srgbClr val="FF2E92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Mission Control?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3337560"/>
            <a:ext cx="11274552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27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7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Local-first. Dual-track. Always verified.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2026-09-04T17:47:29Z</dcterms:created>
  <dcterms:modified xsi:type="dcterms:W3CDTF">2026-09-04T17:47:29Z</dcterms:modified>
</cp:coreProperties>
</file>